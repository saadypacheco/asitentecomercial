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gradFill>
            <a:gsLst>
              <a:gs pos="0">
                <a:srgbClr val="667EEA"/>
              </a:gs>
              <a:gs pos="100000">
                <a:srgbClr val="764BA2"/>
              </a:gs>
            </a:gsLst>
            <a:lin ang="1800000" scaled="1"/>
          </a:gradFill>
          <a:xfrm rot="1080000">
            <a:off x="8351215" y="-1097280"/>
            <a:ext cx="5029200" cy="2743200"/>
          </a:xfrm>
          <a:prstGeom prst="roundRect">
            <a:avLst>
              <a:gd name="adj" fmla="val 6000"/>
            </a:avLst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B4FF"/>
                </a:solidFill>
                <a:latin typeface="Calibri"/>
              </a:rPr>
              <a:t>SALES LEADERSHIP  ·  DIGITAL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FFFFFF"/>
                </a:solidFill>
                <a:latin typeface="Calibri"/>
              </a:rPr>
              <a:t>Asistente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8961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9AA5B8"/>
                </a:solidFill>
                <a:latin typeface="Calibri"/>
              </a:rPr>
              <a:t>The operating system for sales leaders. Know what to do today — and act on your whole team from one place. Simple, from the phone.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5029200"/>
            <a:ext cx="2011680" cy="4572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Sales-team management platform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Proposal ·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B4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 we'll cover.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AA5B8"/>
                </a:solidFill>
                <a:latin typeface="Calibri"/>
              </a:rPr>
              <a:t>A walkthrough of the problem, the solution and the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667EE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48840"/>
            <a:ext cx="4480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The problem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5B8"/>
                </a:solidFill>
                <a:latin typeface="Calibri"/>
              </a:rPr>
              <a:t>Why the leader's communication gets lost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667EEA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337560"/>
            <a:ext cx="4480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The solution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5B8"/>
                </a:solidFill>
                <a:latin typeface="Calibri"/>
              </a:rPr>
              <a:t>What the Assistant is and how it feels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667EEA"/>
                </a:solidFill>
                <a:latin typeface="Calibr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526280"/>
            <a:ext cx="4480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See it today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5B8"/>
                </a:solidFill>
                <a:latin typeface="Calibri"/>
              </a:rPr>
              <a:t>The clickable prototype: leader &amp; agent apps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48840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667EEA"/>
                </a:solidFill>
                <a:latin typeface="Calibri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4480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How it works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5B8"/>
                </a:solidFill>
                <a:latin typeface="Calibri"/>
              </a:rPr>
              <a:t>The loop: signals → engine →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337560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667EEA"/>
                </a:solidFill>
                <a:latin typeface="Calibri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337560"/>
            <a:ext cx="4480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Where we're going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5B8"/>
                </a:solidFill>
                <a:latin typeface="Calibri"/>
              </a:rPr>
              <a:t>Phased roadmap and what's still missing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526280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667EEA"/>
                </a:solidFill>
                <a:latin typeface="Calibri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4526280"/>
            <a:ext cx="4480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What we need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5B8"/>
                </a:solidFill>
                <a:latin typeface="Calibri"/>
              </a:rPr>
              <a:t>To move forward together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Asistente · Proposal 2026</a:t>
            </a:r>
            <a:r>
              <a:rPr sz="900" b="0">
                <a:solidFill>
                  <a:srgbClr val="6B7280"/>
                </a:solidFill>
                <a:latin typeface="Calibri"/>
              </a:rPr>
              <a:t>        1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B4FF"/>
                </a:solidFill>
                <a:latin typeface="Calibri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leader is drowning.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AA5B8"/>
                </a:solidFill>
                <a:latin typeface="Calibri"/>
              </a:rPr>
              <a:t>Managing ~1,300 agents by hand and by memory.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1091153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📱  </a:t>
            </a:r>
            <a:r>
              <a:rPr sz="1400" b="1">
                <a:solidFill>
                  <a:srgbClr val="FFFFFF"/>
                </a:solidFill>
                <a:latin typeface="Calibri"/>
              </a:rPr>
              <a:t>Too much WhatsApp</a:t>
            </a:r>
            <a:r>
              <a:rPr sz="1400" b="0">
                <a:solidFill>
                  <a:srgbClr val="6B7280"/>
                </a:solidFill>
                <a:latin typeface="Calibri"/>
              </a:rPr>
              <a:t>  —  </a:t>
            </a:r>
            <a:r>
              <a:rPr sz="1400" b="0">
                <a:solidFill>
                  <a:srgbClr val="9AA5B8"/>
                </a:solidFill>
                <a:latin typeface="Calibri"/>
              </a:rPr>
              <a:t>Everything comes in through one channel and important things slip through.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🚪  </a:t>
            </a:r>
            <a:r>
              <a:rPr sz="1400" b="1">
                <a:solidFill>
                  <a:srgbClr val="FFFFFF"/>
                </a:solidFill>
                <a:latin typeface="Calibri"/>
              </a:rPr>
              <a:t>Who's leaving?</a:t>
            </a:r>
            <a:r>
              <a:rPr sz="1400" b="0">
                <a:solidFill>
                  <a:srgbClr val="6B7280"/>
                </a:solidFill>
                <a:latin typeface="Calibri"/>
              </a:rPr>
              <a:t>  —  </a:t>
            </a:r>
            <a:r>
              <a:rPr sz="1400" b="0">
                <a:solidFill>
                  <a:srgbClr val="9AA5B8"/>
                </a:solidFill>
                <a:latin typeface="Calibri"/>
              </a:rPr>
              <a:t>No early visibility on agents about to quit or who needs help first.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🐢  </a:t>
            </a:r>
            <a:r>
              <a:rPr sz="1400" b="1">
                <a:solidFill>
                  <a:srgbClr val="FFFFFF"/>
                </a:solidFill>
                <a:latin typeface="Calibri"/>
              </a:rPr>
              <a:t>Slow onboarding</a:t>
            </a:r>
            <a:r>
              <a:rPr sz="1400" b="0">
                <a:solidFill>
                  <a:srgbClr val="6B7280"/>
                </a:solidFill>
                <a:latin typeface="Calibri"/>
              </a:rPr>
              <a:t>  —  </a:t>
            </a:r>
            <a:r>
              <a:rPr sz="1400" b="0">
                <a:solidFill>
                  <a:srgbClr val="9AA5B8"/>
                </a:solidFill>
                <a:latin typeface="Calibri"/>
              </a:rPr>
              <a:t>New agents take long to produce, and there's no view of where they get stuck.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🧠  </a:t>
            </a:r>
            <a:r>
              <a:rPr sz="1400" b="1">
                <a:solidFill>
                  <a:srgbClr val="FFFFFF"/>
                </a:solidFill>
                <a:latin typeface="Calibri"/>
              </a:rPr>
              <a:t>Run from memory</a:t>
            </a:r>
            <a:r>
              <a:rPr sz="1400" b="0">
                <a:solidFill>
                  <a:srgbClr val="6B7280"/>
                </a:solidFill>
                <a:latin typeface="Calibri"/>
              </a:rPr>
              <a:t>  —  </a:t>
            </a:r>
            <a:r>
              <a:rPr sz="1400" b="0">
                <a:solidFill>
                  <a:srgbClr val="9AA5B8"/>
                </a:solidFill>
                <a:latin typeface="Calibri"/>
              </a:rPr>
              <a:t>Follow-ups, reminders and decisions all in the leader's head → stress, no scale.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86400"/>
            <a:ext cx="10911535" cy="566928"/>
          </a:xfrm>
          <a:prstGeom prst="roundRect">
            <a:avLst>
              <a:gd name="adj" fmla="val 6000"/>
            </a:avLst>
          </a:prstGeom>
          <a:solidFill>
            <a:srgbClr val="1A2138"/>
          </a:solidFill>
          <a:ln w="1524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B4FF"/>
                </a:solidFill>
                <a:latin typeface="Calibri"/>
              </a:rPr>
              <a:t>THEY DON'T NEED MORE INFORMATION.  </a:t>
            </a:r>
            <a:r>
              <a:rPr sz="1300" b="0">
                <a:solidFill>
                  <a:srgbClr val="FFFFFF"/>
                </a:solidFill>
                <a:latin typeface="Calibri"/>
              </a:rPr>
              <a:t>They need to know where to act today.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Asistente · Proposal 2026</a:t>
            </a:r>
            <a:r>
              <a:rPr sz="900" b="0">
                <a:solidFill>
                  <a:srgbClr val="6B7280"/>
                </a:solidFill>
                <a:latin typeface="Calibri"/>
              </a:rPr>
              <a:t>        2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B4FF"/>
                </a:solidFill>
                <a:latin typeface="Calibri"/>
              </a:rPr>
              <a:t>01 · BEFORE VS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How each flow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AA5B8"/>
                </a:solidFill>
                <a:latin typeface="Calibri"/>
              </a:rPr>
              <a:t>From scattered and manual to prioritized and measured.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212080" cy="3383280"/>
          </a:xfrm>
          <a:prstGeom prst="roundRect">
            <a:avLst>
              <a:gd name="adj" fmla="val 6000"/>
            </a:avLst>
          </a:prstGeom>
          <a:solidFill>
            <a:srgbClr val="141823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TODAY · WITHOUT THE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47548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✉️  </a:t>
            </a:r>
            <a:r>
              <a:rPr sz="1250" b="1">
                <a:solidFill>
                  <a:srgbClr val="FFFFFF"/>
                </a:solidFill>
                <a:latin typeface="Calibri"/>
              </a:rPr>
              <a:t>Messages that get lost</a:t>
            </a:r>
            <a:r>
              <a:rPr sz="1250" b="0">
                <a:solidFill>
                  <a:srgbClr val="6B7280"/>
                </a:solidFill>
                <a:latin typeface="Calibri"/>
              </a:rPr>
              <a:t>  —  </a:t>
            </a:r>
            <a:r>
              <a:rPr sz="1250" b="0">
                <a:solidFill>
                  <a:srgbClr val="9AA5B8"/>
                </a:solidFill>
                <a:latin typeface="Calibri"/>
              </a:rPr>
              <a:t>WhatsApp floods, nothing measured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❓  </a:t>
            </a:r>
            <a:r>
              <a:rPr sz="1250" b="1">
                <a:solidFill>
                  <a:srgbClr val="FFFFFF"/>
                </a:solidFill>
                <a:latin typeface="Calibri"/>
              </a:rPr>
              <a:t>No idea who's at risk</a:t>
            </a:r>
            <a:r>
              <a:rPr sz="1250" b="0">
                <a:solidFill>
                  <a:srgbClr val="6B7280"/>
                </a:solidFill>
                <a:latin typeface="Calibri"/>
              </a:rPr>
              <a:t>  —  </a:t>
            </a:r>
            <a:r>
              <a:rPr sz="1250" b="0">
                <a:solidFill>
                  <a:srgbClr val="9AA5B8"/>
                </a:solidFill>
                <a:latin typeface="Calibri"/>
              </a:rPr>
              <a:t>Reacts late, loses agents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📋  </a:t>
            </a:r>
            <a:r>
              <a:rPr sz="1250" b="1">
                <a:solidFill>
                  <a:srgbClr val="FFFFFF"/>
                </a:solidFill>
                <a:latin typeface="Calibri"/>
              </a:rPr>
              <a:t>Onboarding by hand</a:t>
            </a:r>
            <a:r>
              <a:rPr sz="1250" b="0">
                <a:solidFill>
                  <a:srgbClr val="6B7280"/>
                </a:solidFill>
                <a:latin typeface="Calibri"/>
              </a:rPr>
              <a:t>  —  </a:t>
            </a:r>
            <a:r>
              <a:rPr sz="1250" b="0">
                <a:solidFill>
                  <a:srgbClr val="9AA5B8"/>
                </a:solidFill>
                <a:latin typeface="Calibri"/>
              </a:rPr>
              <a:t>No view of who's stuck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🗂️  </a:t>
            </a:r>
            <a:r>
              <a:rPr sz="1250" b="1">
                <a:solidFill>
                  <a:srgbClr val="FFFFFF"/>
                </a:solidFill>
                <a:latin typeface="Calibri"/>
              </a:rPr>
              <a:t>Data in the head</a:t>
            </a:r>
            <a:r>
              <a:rPr sz="1250" b="0">
                <a:solidFill>
                  <a:srgbClr val="6B7280"/>
                </a:solidFill>
                <a:latin typeface="Calibri"/>
              </a:rPr>
              <a:t>  —  </a:t>
            </a:r>
            <a:r>
              <a:rPr sz="1250" b="0">
                <a:solidFill>
                  <a:srgbClr val="9AA5B8"/>
                </a:solidFill>
                <a:latin typeface="Calibri"/>
              </a:rPr>
              <a:t>Forgotten follow-ups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240280"/>
            <a:ext cx="5193792" cy="3383280"/>
          </a:xfrm>
          <a:prstGeom prst="roundRect">
            <a:avLst>
              <a:gd name="adj" fmla="val 6000"/>
            </a:avLst>
          </a:prstGeom>
          <a:solidFill>
            <a:srgbClr val="1A2138"/>
          </a:solidFill>
          <a:ln w="1524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4231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C41A"/>
                </a:solidFill>
                <a:latin typeface="Calibri"/>
              </a:rPr>
              <a:t>WITH ASISTENTE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80360"/>
            <a:ext cx="47548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🔔  </a:t>
            </a:r>
            <a:r>
              <a:rPr sz="1250" b="1">
                <a:solidFill>
                  <a:srgbClr val="FFFFFF"/>
                </a:solidFill>
                <a:latin typeface="Calibri"/>
              </a:rPr>
              <a:t>One triaged inbox</a:t>
            </a:r>
            <a:r>
              <a:rPr sz="1250" b="0">
                <a:solidFill>
                  <a:srgbClr val="6B7280"/>
                </a:solidFill>
                <a:latin typeface="Calibri"/>
              </a:rPr>
              <a:t>  —  </a:t>
            </a:r>
            <a:r>
              <a:rPr sz="1250" b="0">
                <a:solidFill>
                  <a:srgbClr val="9AA5B8"/>
                </a:solidFill>
                <a:latin typeface="Calibri"/>
              </a:rPr>
              <a:t>Reply from the app, every message tracked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🎯  </a:t>
            </a:r>
            <a:r>
              <a:rPr sz="1250" b="1">
                <a:solidFill>
                  <a:srgbClr val="FFFFFF"/>
                </a:solidFill>
                <a:latin typeface="Calibri"/>
              </a:rPr>
              <a:t>A single Score per agent</a:t>
            </a:r>
            <a:r>
              <a:rPr sz="1250" b="0">
                <a:solidFill>
                  <a:srgbClr val="6B7280"/>
                </a:solidFill>
                <a:latin typeface="Calibri"/>
              </a:rPr>
              <a:t>  —  </a:t>
            </a:r>
            <a:r>
              <a:rPr sz="1250" b="0">
                <a:solidFill>
                  <a:srgbClr val="9AA5B8"/>
                </a:solidFill>
                <a:latin typeface="Calibri"/>
              </a:rPr>
              <a:t>See risk at a glance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🏆  </a:t>
            </a:r>
            <a:r>
              <a:rPr sz="1250" b="1">
                <a:solidFill>
                  <a:srgbClr val="FFFFFF"/>
                </a:solidFill>
                <a:latin typeface="Calibri"/>
              </a:rPr>
              <a:t>Game-like onboarding</a:t>
            </a:r>
            <a:r>
              <a:rPr sz="1250" b="0">
                <a:solidFill>
                  <a:srgbClr val="6B7280"/>
                </a:solidFill>
                <a:latin typeface="Calibri"/>
              </a:rPr>
              <a:t>  —  </a:t>
            </a:r>
            <a:r>
              <a:rPr sz="1250" b="0">
                <a:solidFill>
                  <a:srgbClr val="9AA5B8"/>
                </a:solidFill>
                <a:latin typeface="Calibri"/>
              </a:rPr>
              <a:t>Funnel shows where each one is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⚡  </a:t>
            </a:r>
            <a:r>
              <a:rPr sz="1250" b="1">
                <a:solidFill>
                  <a:srgbClr val="FFFFFF"/>
                </a:solidFill>
                <a:latin typeface="Calibri"/>
              </a:rPr>
              <a:t>Act in 1–2 taps</a:t>
            </a:r>
            <a:r>
              <a:rPr sz="1250" b="0">
                <a:solidFill>
                  <a:srgbClr val="6B7280"/>
                </a:solidFill>
                <a:latin typeface="Calibri"/>
              </a:rPr>
              <a:t>  —  </a:t>
            </a:r>
            <a:r>
              <a:rPr sz="1250" b="0">
                <a:solidFill>
                  <a:srgbClr val="9AA5B8"/>
                </a:solidFill>
                <a:latin typeface="Calibri"/>
              </a:rPr>
              <a:t>Everything auto-recorded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Asistente · Proposal 2026</a:t>
            </a:r>
            <a:r>
              <a:rPr sz="900" b="0">
                <a:solidFill>
                  <a:srgbClr val="6B7280"/>
                </a:solidFill>
                <a:latin typeface="Calibri"/>
              </a:rPr>
              <a:t>        3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B4FF"/>
                </a:solidFill>
                <a:latin typeface="Calibri"/>
              </a:rPr>
              <a:t>02 ·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 it feels like to use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AA5B8"/>
                </a:solidFill>
                <a:latin typeface="Calibri"/>
              </a:rPr>
              <a:t>Three ideas drive everything — plus the WhatsApp inbox at the 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A2138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95728"/>
            <a:ext cx="3108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⚡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Visible urgency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9AA5B8"/>
                </a:solidFill>
                <a:latin typeface="Calibri"/>
              </a:rPr>
              <a:t>On open, see what to do now — color-prioritized 🔴🟠🟡🟢.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21945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A2138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2395728"/>
            <a:ext cx="3108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Direct action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9AA5B8"/>
                </a:solidFill>
                <a:latin typeface="Calibri"/>
              </a:rPr>
              <a:t>Reply, call, assign, recognize — like a digital wallet.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21945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A2138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2395728"/>
            <a:ext cx="3108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🎯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Radical simplicity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9AA5B8"/>
                </a:solidFill>
                <a:latin typeface="Calibri"/>
              </a:rPr>
              <a:t>One thing at a time. Built for a non-technical user.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4340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B4FF"/>
                </a:solidFill>
                <a:latin typeface="Calibri"/>
              </a:rPr>
              <a:t>THE THREE PILLARS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1091153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🛡️  </a:t>
            </a:r>
            <a:r>
              <a:rPr sz="1250" b="1">
                <a:solidFill>
                  <a:srgbClr val="FFFFFF"/>
                </a:solidFill>
                <a:latin typeface="Calibri"/>
              </a:rPr>
              <a:t>Control</a:t>
            </a:r>
            <a:r>
              <a:rPr sz="1250" b="0">
                <a:solidFill>
                  <a:srgbClr val="6B7280"/>
                </a:solidFill>
                <a:latin typeface="Calibri"/>
              </a:rPr>
              <a:t>  —  </a:t>
            </a:r>
            <a:r>
              <a:rPr sz="1250" b="0">
                <a:solidFill>
                  <a:srgbClr val="9AA5B8"/>
                </a:solidFill>
                <a:latin typeface="Calibri"/>
              </a:rPr>
              <a:t>See the whole team's status at a glance (Agent Score 0–100).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🔭  </a:t>
            </a:r>
            <a:r>
              <a:rPr sz="1250" b="1">
                <a:solidFill>
                  <a:srgbClr val="FFFFFF"/>
                </a:solidFill>
                <a:latin typeface="Calibri"/>
              </a:rPr>
              <a:t>Follow-up</a:t>
            </a:r>
            <a:r>
              <a:rPr sz="1250" b="0">
                <a:solidFill>
                  <a:srgbClr val="6B7280"/>
                </a:solidFill>
                <a:latin typeface="Calibri"/>
              </a:rPr>
              <a:t>  —  </a:t>
            </a:r>
            <a:r>
              <a:rPr sz="1250" b="0">
                <a:solidFill>
                  <a:srgbClr val="9AA5B8"/>
                </a:solidFill>
                <a:latin typeface="Calibri"/>
              </a:rPr>
              <a:t>Turn data into actions: who to call, who to help, who's leaving.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🚀  </a:t>
            </a:r>
            <a:r>
              <a:rPr sz="1250" b="1">
                <a:solidFill>
                  <a:srgbClr val="FFFFFF"/>
                </a:solidFill>
                <a:latin typeface="Calibri"/>
              </a:rPr>
              <a:t>Development</a:t>
            </a:r>
            <a:r>
              <a:rPr sz="1250" b="0">
                <a:solidFill>
                  <a:srgbClr val="6B7280"/>
                </a:solidFill>
                <a:latin typeface="Calibri"/>
              </a:rPr>
              <a:t>  —  </a:t>
            </a:r>
            <a:r>
              <a:rPr sz="1250" b="0">
                <a:solidFill>
                  <a:srgbClr val="9AA5B8"/>
                </a:solidFill>
                <a:latin typeface="Calibri"/>
              </a:rPr>
              <a:t>Game-like onboarding toward the first sale.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Asistente · Proposal 2026</a:t>
            </a:r>
            <a:r>
              <a:rPr sz="900" b="0">
                <a:solidFill>
                  <a:srgbClr val="6B7280"/>
                </a:solidFill>
                <a:latin typeface="Calibri"/>
              </a:rPr>
              <a:t>        4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B4FF"/>
                </a:solidFill>
                <a:latin typeface="Calibri"/>
              </a:rPr>
              <a:t>02 · THE AGENT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One number per person.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AA5B8"/>
                </a:solidFill>
                <a:latin typeface="Calibri"/>
              </a:rPr>
              <a:t>It sums up each agent so the leader doesn't analyze 1,300 people.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468880"/>
            <a:ext cx="2194560" cy="2194560"/>
          </a:xfrm>
          <a:prstGeom prst="ellipse">
            <a:avLst/>
          </a:prstGeom>
          <a:solidFill>
            <a:srgbClr val="1A2138"/>
          </a:solidFill>
          <a:ln w="3810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82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5B8"/>
                </a:solidFill>
                <a:latin typeface="Calibri"/>
              </a:rPr>
              <a:t>0–100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606040"/>
            <a:ext cx="758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Activity</a:t>
            </a:r>
            <a:r>
              <a:rPr sz="1200" b="1">
                <a:solidFill>
                  <a:srgbClr val="667EEA"/>
                </a:solidFill>
                <a:latin typeface="Calibri"/>
              </a:rPr>
              <a:t>    30%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916936"/>
            <a:ext cx="5486400" cy="91440"/>
          </a:xfrm>
          <a:prstGeom prst="rect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0" y="2916936"/>
            <a:ext cx="1645920" cy="9144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3355848"/>
            <a:ext cx="758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Training attendance</a:t>
            </a:r>
            <a:r>
              <a:rPr sz="1200" b="1">
                <a:solidFill>
                  <a:srgbClr val="667EEA"/>
                </a:solidFill>
                <a:latin typeface="Calibri"/>
              </a:rPr>
              <a:t>    20%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3666744"/>
            <a:ext cx="5486400" cy="91440"/>
          </a:xfrm>
          <a:prstGeom prst="rect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0" y="3666744"/>
            <a:ext cx="1097280" cy="9144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4105656"/>
            <a:ext cx="758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Goal compliance</a:t>
            </a:r>
            <a:r>
              <a:rPr sz="1200" b="1">
                <a:solidFill>
                  <a:srgbClr val="667EEA"/>
                </a:solidFill>
                <a:latin typeface="Calibri"/>
              </a:rPr>
              <a:t>    30%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4416552"/>
            <a:ext cx="5486400" cy="91440"/>
          </a:xfrm>
          <a:prstGeom prst="rect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0" y="4416552"/>
            <a:ext cx="1645920" cy="9144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4855464"/>
            <a:ext cx="758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Interaction</a:t>
            </a:r>
            <a:r>
              <a:rPr sz="1200" b="1">
                <a:solidFill>
                  <a:srgbClr val="667EEA"/>
                </a:solidFill>
                <a:latin typeface="Calibri"/>
              </a:rPr>
              <a:t>    20%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5166360"/>
            <a:ext cx="5486400" cy="91440"/>
          </a:xfrm>
          <a:prstGeom prst="rect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0" y="5166360"/>
            <a:ext cx="1097280" cy="9144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8920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2C41A"/>
                </a:solidFill>
                <a:latin typeface="Calibri"/>
              </a:rPr>
              <a:t>🟢 HEALTHY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Asistente · Proposal 2026</a:t>
            </a:r>
            <a:r>
              <a:rPr sz="900" b="0">
                <a:solidFill>
                  <a:srgbClr val="6B7280"/>
                </a:solidFill>
                <a:latin typeface="Calibri"/>
              </a:rPr>
              <a:t>        5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B4FF"/>
                </a:solidFill>
                <a:latin typeface="Calibri"/>
              </a:rPr>
              <a:t>03 · SEE IT TODAY ·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login.</a:t>
            </a:r>
          </a:p>
        </p:txBody>
      </p:sp>
      <p:pic>
        <p:nvPicPr>
          <p:cNvPr id="5" name="Picture 4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098" y="1737360"/>
            <a:ext cx="2145803" cy="3611880"/>
          </a:xfrm>
          <a:prstGeom prst="rect">
            <a:avLst/>
          </a:prstGeom>
          <a:ln w="15875">
            <a:solidFill>
              <a:srgbClr val="2A334D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640080" y="5532120"/>
            <a:ext cx="10911535" cy="548640"/>
          </a:xfrm>
          <a:prstGeom prst="roundRect">
            <a:avLst>
              <a:gd name="adj" fmla="val 6000"/>
            </a:avLst>
          </a:prstGeom>
          <a:solidFill>
            <a:srgbClr val="1A2138"/>
          </a:solidFill>
          <a:ln w="1270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B4FF"/>
                </a:solidFill>
                <a:latin typeface="Calibri"/>
              </a:rPr>
              <a:t>💡 KEY POINT    </a:t>
            </a:r>
            <a:r>
              <a:rPr sz="1250" b="0">
                <a:solidFill>
                  <a:srgbClr val="FFFFFF"/>
                </a:solidFill>
                <a:latin typeface="Calibri"/>
              </a:rPr>
              <a:t>Simple sign-in, multi-language (EN / ES / PT) and a WhatsApp-code option — on brand with how agents already communicate.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Asistente · Proposal 2026</a:t>
            </a:r>
            <a:r>
              <a:rPr sz="900" b="0">
                <a:solidFill>
                  <a:srgbClr val="6B7280"/>
                </a:solidFill>
                <a:latin typeface="Calibri"/>
              </a:rPr>
              <a:t>        6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B4FF"/>
                </a:solidFill>
                <a:latin typeface="Calibri"/>
              </a:rPr>
              <a:t>03 · SEE IT TODAY · MY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 to do today, at a glance.</a:t>
            </a:r>
          </a:p>
        </p:txBody>
      </p:sp>
      <p:pic>
        <p:nvPicPr>
          <p:cNvPr id="5" name="Picture 4" descr="dashboardCec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468" y="1737360"/>
            <a:ext cx="9033063" cy="3611880"/>
          </a:xfrm>
          <a:prstGeom prst="rect">
            <a:avLst/>
          </a:prstGeom>
          <a:ln w="15875">
            <a:solidFill>
              <a:srgbClr val="2A334D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640080" y="5532120"/>
            <a:ext cx="10911535" cy="548640"/>
          </a:xfrm>
          <a:prstGeom prst="roundRect">
            <a:avLst>
              <a:gd name="adj" fmla="val 6000"/>
            </a:avLst>
          </a:prstGeom>
          <a:solidFill>
            <a:srgbClr val="1A2138"/>
          </a:solidFill>
          <a:ln w="1270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B4FF"/>
                </a:solidFill>
                <a:latin typeface="Calibri"/>
              </a:rPr>
              <a:t>💡 KEY POINT    </a:t>
            </a:r>
            <a:r>
              <a:rPr sz="1250" b="0">
                <a:solidFill>
                  <a:srgbClr val="FFFFFF"/>
                </a:solidFill>
                <a:latin typeface="Calibri"/>
              </a:rPr>
              <a:t>Day timeline (what's left and when) + team summary + quick actions + a prioritized task list with a step-by-step guided mode.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Asistente · Proposal 2026</a:t>
            </a:r>
            <a:r>
              <a:rPr sz="900" b="0">
                <a:solidFill>
                  <a:srgbClr val="6B7280"/>
                </a:solidFill>
                <a:latin typeface="Calibri"/>
              </a:rPr>
              <a:t>        7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B4FF"/>
                </a:solidFill>
                <a:latin typeface="Calibri"/>
              </a:rPr>
              <a:t>03 · SEE IT TODAY · INBOX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WhatsApp, triaged.</a:t>
            </a:r>
          </a:p>
        </p:txBody>
      </p:sp>
      <p:pic>
        <p:nvPicPr>
          <p:cNvPr id="5" name="Picture 4" descr="MensajesCec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" y="1737360"/>
            <a:ext cx="10698480" cy="3038432"/>
          </a:xfrm>
          <a:prstGeom prst="rect">
            <a:avLst/>
          </a:prstGeom>
          <a:ln w="15875">
            <a:solidFill>
              <a:srgbClr val="2A334D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640080" y="5532120"/>
            <a:ext cx="10911535" cy="548640"/>
          </a:xfrm>
          <a:prstGeom prst="roundRect">
            <a:avLst>
              <a:gd name="adj" fmla="val 6000"/>
            </a:avLst>
          </a:prstGeom>
          <a:solidFill>
            <a:srgbClr val="1A2138"/>
          </a:solidFill>
          <a:ln w="1270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B4FF"/>
                </a:solidFill>
                <a:latin typeface="Calibri"/>
              </a:rPr>
              <a:t>💡 KEY POINT    </a:t>
            </a:r>
            <a:r>
              <a:rPr sz="1250" b="0">
                <a:solidFill>
                  <a:srgbClr val="FFFFFF"/>
                </a:solidFill>
                <a:latin typeface="Calibri"/>
              </a:rPr>
              <a:t>Every incoming message sorted into Urgent / Can wait / Answered — the leader reads and replies from one 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Asistente · Proposal 2026</a:t>
            </a:r>
            <a:r>
              <a:rPr sz="900" b="0">
                <a:solidFill>
                  <a:srgbClr val="6B7280"/>
                </a:solidFill>
                <a:latin typeface="Calibri"/>
              </a:rPr>
              <a:t>        8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B4FF"/>
                </a:solidFill>
                <a:latin typeface="Calibri"/>
              </a:rPr>
              <a:t>03 · SEE IT TODAY ·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whole team, by urgency.</a:t>
            </a:r>
          </a:p>
        </p:txBody>
      </p:sp>
      <p:pic>
        <p:nvPicPr>
          <p:cNvPr id="5" name="Picture 4" descr="AgentesCec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872" y="1737360"/>
            <a:ext cx="6424255" cy="3611880"/>
          </a:xfrm>
          <a:prstGeom prst="rect">
            <a:avLst/>
          </a:prstGeom>
          <a:ln w="15875">
            <a:solidFill>
              <a:srgbClr val="2A334D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640080" y="5532120"/>
            <a:ext cx="10911535" cy="548640"/>
          </a:xfrm>
          <a:prstGeom prst="roundRect">
            <a:avLst>
              <a:gd name="adj" fmla="val 6000"/>
            </a:avLst>
          </a:prstGeom>
          <a:solidFill>
            <a:srgbClr val="1A2138"/>
          </a:solidFill>
          <a:ln w="1270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B4FF"/>
                </a:solidFill>
                <a:latin typeface="Calibri"/>
              </a:rPr>
              <a:t>💡 KEY POINT    </a:t>
            </a:r>
            <a:r>
              <a:rPr sz="1250" b="0">
                <a:solidFill>
                  <a:srgbClr val="FFFFFF"/>
                </a:solidFill>
                <a:latin typeface="Calibri"/>
              </a:rPr>
              <a:t>One Score (0–100) per agent, filters by status, and communication built into each card.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Asistente · Proposal 2026</a:t>
            </a:r>
            <a:r>
              <a:rPr sz="900" b="0">
                <a:solidFill>
                  <a:srgbClr val="6B7280"/>
                </a:solidFill>
                <a:latin typeface="Calibri"/>
              </a:rPr>
              <a:t>        9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B4FF"/>
                </a:solidFill>
                <a:latin typeface="Calibri"/>
              </a:rPr>
              <a:t>03 · SEE IT TODAY ·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Who's stuck on the way to the first sale.</a:t>
            </a:r>
          </a:p>
        </p:txBody>
      </p:sp>
      <p:pic>
        <p:nvPicPr>
          <p:cNvPr id="5" name="Picture 4" descr="AgentesOnboardingCec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" y="1737360"/>
            <a:ext cx="10698480" cy="3499874"/>
          </a:xfrm>
          <a:prstGeom prst="rect">
            <a:avLst/>
          </a:prstGeom>
          <a:ln w="15875">
            <a:solidFill>
              <a:srgbClr val="2A334D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640080" y="5532120"/>
            <a:ext cx="10911535" cy="548640"/>
          </a:xfrm>
          <a:prstGeom prst="roundRect">
            <a:avLst>
              <a:gd name="adj" fmla="val 6000"/>
            </a:avLst>
          </a:prstGeom>
          <a:solidFill>
            <a:srgbClr val="1A2138"/>
          </a:solidFill>
          <a:ln w="1270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B4FF"/>
                </a:solidFill>
                <a:latin typeface="Calibri"/>
              </a:rPr>
              <a:t>💡 KEY POINT    </a:t>
            </a:r>
            <a:r>
              <a:rPr sz="1250" b="0">
                <a:solidFill>
                  <a:srgbClr val="FFFFFF"/>
                </a:solidFill>
                <a:latin typeface="Calibri"/>
              </a:rPr>
              <a:t>A funnel of the 8 steps and a flag on every agent who got stuck — so the leader acts before they quit.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Asistente · Proposal 2026</a:t>
            </a:r>
            <a:r>
              <a:rPr sz="900" b="0">
                <a:solidFill>
                  <a:srgbClr val="6B7280"/>
                </a:solidFill>
                <a:latin typeface="Calibri"/>
              </a:rPr>
              <a:t>        10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B4FF"/>
                </a:solidFill>
                <a:latin typeface="Calibri"/>
              </a:rPr>
              <a:t>03 · SEE IT TODAY · AGENT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agent's pocket coach.</a:t>
            </a:r>
          </a:p>
        </p:txBody>
      </p:sp>
      <p:pic>
        <p:nvPicPr>
          <p:cNvPr id="5" name="Picture 4" descr="Agentes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828800"/>
            <a:ext cx="2220310" cy="4160520"/>
          </a:xfrm>
          <a:prstGeom prst="rect">
            <a:avLst/>
          </a:prstGeom>
          <a:ln w="15875">
            <a:solidFill>
              <a:srgbClr val="2A334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303520" y="2834640"/>
            <a:ext cx="61264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B4FF"/>
                </a:solidFill>
                <a:latin typeface="Calibri"/>
              </a:rPr>
              <a:t>💡 KEY POINT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The agent sees their Score, today's urgent task, agenda, learning path and alerts. Game-like and mobile-first.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Asistente · Proposal 2026</a:t>
            </a:r>
            <a:r>
              <a:rPr sz="900" b="0">
                <a:solidFill>
                  <a:srgbClr val="6B7280"/>
                </a:solidFill>
                <a:latin typeface="Calibri"/>
              </a:rPr>
              <a:t>        11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B4FF"/>
                </a:solidFill>
                <a:latin typeface="Calibri"/>
              </a:rPr>
              <a:t>04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 closed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AA5B8"/>
                </a:solidFill>
                <a:latin typeface="Calibri"/>
              </a:rPr>
              <a:t>Every message and action feeds the system 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1A2138"/>
          </a:solidFill>
          <a:ln w="1778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3063240"/>
            <a:ext cx="220370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67EEA"/>
                </a:solidFill>
                <a:latin typeface="Calibri"/>
              </a:rPr>
              <a:t>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Signals in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9AA5B8"/>
                </a:solidFill>
                <a:latin typeface="Calibri"/>
              </a:rPr>
              <a:t>WhatsApp · activity · Zoom ·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7832" y="338328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83464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1A2138"/>
          </a:solidFill>
          <a:ln w="17780">
            <a:solidFill>
              <a:srgbClr val="764B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7" y="3063240"/>
            <a:ext cx="220370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64BA2"/>
                </a:solidFill>
                <a:latin typeface="Calibri"/>
              </a:rPr>
              <a:t>2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Engine calculates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9AA5B8"/>
                </a:solidFill>
                <a:latin typeface="Calibri"/>
              </a:rPr>
              <a:t>Agent Score + prioritized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2472" y="338328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83464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1A2138"/>
          </a:solidFill>
          <a:ln w="1778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3063240"/>
            <a:ext cx="220370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67EEA"/>
                </a:solidFill>
                <a:latin typeface="Calibri"/>
              </a:rPr>
              <a:t>3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Leader acts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9AA5B8"/>
                </a:solidFill>
                <a:latin typeface="Calibri"/>
              </a:rPr>
              <a:t>'What to do today' in 1–2 taps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7112" y="338328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83464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1A2138"/>
          </a:solidFill>
          <a:ln w="17780">
            <a:solidFill>
              <a:srgbClr val="52C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45168" y="3063240"/>
            <a:ext cx="220370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2C41A"/>
                </a:solidFill>
                <a:latin typeface="Calibri"/>
              </a:rPr>
              <a:t>4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Recorded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9AA5B8"/>
                </a:solidFill>
                <a:latin typeface="Calibri"/>
              </a:rPr>
              <a:t>History feeds back into the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AA5B8"/>
                </a:solidFill>
                <a:latin typeface="Calibri"/>
              </a:rPr>
              <a:t>The Agent Score and the alerts are computed automatically — </a:t>
            </a:r>
            <a:r>
              <a:rPr sz="1300" b="1">
                <a:solidFill>
                  <a:srgbClr val="FFFFFF"/>
                </a:solidFill>
                <a:latin typeface="Calibri"/>
              </a:rPr>
              <a:t>never typed in by hand. That's the intelligence of the system.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Asistente · Proposal 2026</a:t>
            </a:r>
            <a:r>
              <a:rPr sz="900" b="0">
                <a:solidFill>
                  <a:srgbClr val="6B7280"/>
                </a:solidFill>
                <a:latin typeface="Calibri"/>
              </a:rPr>
              <a:t>        12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B4FF"/>
                </a:solidFill>
                <a:latin typeface="Calibri"/>
              </a:rPr>
              <a:t>05 · WHERE WE'RE GOING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Phased roadmap.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AA5B8"/>
                </a:solidFill>
                <a:latin typeface="Calibri"/>
              </a:rPr>
              <a:t>Value early: Phase 1 solves ~80% of the pain without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10911535" cy="841248"/>
          </a:xfrm>
          <a:prstGeom prst="roundRect">
            <a:avLst>
              <a:gd name="adj" fmla="val 6000"/>
            </a:avLst>
          </a:prstGeom>
          <a:solidFill>
            <a:srgbClr val="1A2138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Phase 0 · Discovery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1">
                <a:solidFill>
                  <a:srgbClr val="FFA940"/>
                </a:solidFill>
                <a:latin typeface="Calibri"/>
              </a:rPr>
              <a:t>In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359152"/>
            <a:ext cx="6766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5B8"/>
                </a:solidFill>
                <a:latin typeface="Calibri"/>
              </a:rPr>
              <a:t>Validate data access, team structure, WhatsApp number, agenda.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40280"/>
            <a:ext cx="82296" cy="84124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172968"/>
            <a:ext cx="10911535" cy="841248"/>
          </a:xfrm>
          <a:prstGeom prst="roundRect">
            <a:avLst>
              <a:gd name="adj" fmla="val 6000"/>
            </a:avLst>
          </a:prstGeom>
          <a:solidFill>
            <a:srgbClr val="1A2138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9184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Phase 1 · MVP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1">
                <a:solidFill>
                  <a:srgbClr val="667EEA"/>
                </a:solidFill>
                <a:latin typeface="Calibri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91840"/>
            <a:ext cx="6766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5B8"/>
                </a:solidFill>
                <a:latin typeface="Calibri"/>
              </a:rPr>
              <a:t>Dashboard + Score + Inbox + Alerts + Onboarding, on a real database.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72968"/>
            <a:ext cx="82296" cy="841248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4105656"/>
            <a:ext cx="10911535" cy="841248"/>
          </a:xfrm>
          <a:prstGeom prst="roundRect">
            <a:avLst>
              <a:gd name="adj" fmla="val 6000"/>
            </a:avLst>
          </a:prstGeom>
          <a:solidFill>
            <a:srgbClr val="1A2138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24528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Phase 2 · Automation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1">
                <a:solidFill>
                  <a:srgbClr val="667EEA"/>
                </a:solidFill>
                <a:latin typeface="Calibri"/>
              </a:rPr>
              <a:t>Later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224528"/>
            <a:ext cx="6766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5B8"/>
                </a:solidFill>
                <a:latin typeface="Calibri"/>
              </a:rPr>
              <a:t>WhatsApp API, automatic Zoom attendance, WFG data, push, mass messaging.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105656"/>
            <a:ext cx="82296" cy="841248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5038344"/>
            <a:ext cx="10911535" cy="841248"/>
          </a:xfrm>
          <a:prstGeom prst="roundRect">
            <a:avLst>
              <a:gd name="adj" fmla="val 6000"/>
            </a:avLst>
          </a:prstGeom>
          <a:solidFill>
            <a:srgbClr val="1A2138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157216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Phase 3 · Intelligence (AI)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1">
                <a:solidFill>
                  <a:srgbClr val="764BA2"/>
                </a:solidFill>
                <a:latin typeface="Calibri"/>
              </a:rPr>
              <a:t>Future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157216"/>
            <a:ext cx="6766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5B8"/>
                </a:solidFill>
                <a:latin typeface="Calibri"/>
              </a:rPr>
              <a:t>24/7 assistant, sales simulator, churn prediction, meeting summaries.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038344"/>
            <a:ext cx="82296" cy="841248"/>
          </a:xfrm>
          <a:prstGeom prst="rect">
            <a:avLst/>
          </a:prstGeom>
          <a:solidFill>
            <a:srgbClr val="764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Asistente · Proposal 2026</a:t>
            </a:r>
            <a:r>
              <a:rPr sz="900" b="0">
                <a:solidFill>
                  <a:srgbClr val="6B7280"/>
                </a:solidFill>
                <a:latin typeface="Calibri"/>
              </a:rPr>
              <a:t>        13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B4FF"/>
                </a:solidFill>
                <a:latin typeface="Calibri"/>
              </a:rPr>
              <a:t>05 · WHAT'S STILL MISSING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Honest about the road ahead.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AA5B8"/>
                </a:solidFill>
                <a:latin typeface="Calibri"/>
              </a:rPr>
              <a:t>Presented as next phases, not gaps.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1091153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🔌  </a:t>
            </a:r>
            <a:r>
              <a:rPr sz="1400" b="1">
                <a:solidFill>
                  <a:srgbClr val="FFFFFF"/>
                </a:solidFill>
                <a:latin typeface="Calibri"/>
              </a:rPr>
              <a:t>Real integrations</a:t>
            </a:r>
            <a:r>
              <a:rPr sz="1400" b="0">
                <a:solidFill>
                  <a:srgbClr val="6B7280"/>
                </a:solidFill>
                <a:latin typeface="Calibri"/>
              </a:rPr>
              <a:t>  —  </a:t>
            </a:r>
            <a:r>
              <a:rPr sz="1400" b="0">
                <a:solidFill>
                  <a:srgbClr val="9AA5B8"/>
                </a:solidFill>
                <a:latin typeface="Calibri"/>
              </a:rPr>
              <a:t>WhatsApp Business API, Zoom attendance, WFG production data, push.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⚙️  </a:t>
            </a:r>
            <a:r>
              <a:rPr sz="1400" b="1">
                <a:solidFill>
                  <a:srgbClr val="FFFFFF"/>
                </a:solidFill>
                <a:latin typeface="Calibri"/>
              </a:rPr>
              <a:t>The backend</a:t>
            </a:r>
            <a:r>
              <a:rPr sz="1400" b="0">
                <a:solidFill>
                  <a:srgbClr val="6B7280"/>
                </a:solidFill>
                <a:latin typeface="Calibri"/>
              </a:rPr>
              <a:t>  —  </a:t>
            </a:r>
            <a:r>
              <a:rPr sz="1400" b="0">
                <a:solidFill>
                  <a:srgbClr val="9AA5B8"/>
                </a:solidFill>
                <a:latin typeface="Calibri"/>
              </a:rPr>
              <a:t>Database, the engine that computes Score &amp; alerts, and security (US data region).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📱  </a:t>
            </a:r>
            <a:r>
              <a:rPr sz="1400" b="1">
                <a:solidFill>
                  <a:srgbClr val="FFFFFF"/>
                </a:solidFill>
                <a:latin typeface="Calibri"/>
              </a:rPr>
              <a:t>Platform decision</a:t>
            </a:r>
            <a:r>
              <a:rPr sz="1400" b="0">
                <a:solidFill>
                  <a:srgbClr val="6B7280"/>
                </a:solidFill>
                <a:latin typeface="Calibri"/>
              </a:rPr>
              <a:t>  —  </a:t>
            </a:r>
            <a:r>
              <a:rPr sz="1400" b="0">
                <a:solidFill>
                  <a:srgbClr val="9AA5B8"/>
                </a:solidFill>
                <a:latin typeface="Calibri"/>
              </a:rPr>
              <a:t>App stores vs installable web app — defines the technical path.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🌐  </a:t>
            </a:r>
            <a:r>
              <a:rPr sz="1400" b="1">
                <a:solidFill>
                  <a:srgbClr val="FFFFFF"/>
                </a:solidFill>
                <a:latin typeface="Calibri"/>
              </a:rPr>
              <a:t>Full multi-language</a:t>
            </a:r>
            <a:r>
              <a:rPr sz="1400" b="0">
                <a:solidFill>
                  <a:srgbClr val="6B7280"/>
                </a:solidFill>
                <a:latin typeface="Calibri"/>
              </a:rPr>
              <a:t>  —  </a:t>
            </a:r>
            <a:r>
              <a:rPr sz="1400" b="0">
                <a:solidFill>
                  <a:srgbClr val="9AA5B8"/>
                </a:solidFill>
                <a:latin typeface="Calibri"/>
              </a:rPr>
              <a:t>Login already shows it; extend across the whole app (English by default).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Asistente · Proposal 2026</a:t>
            </a:r>
            <a:r>
              <a:rPr sz="900" b="0">
                <a:solidFill>
                  <a:srgbClr val="6B7280"/>
                </a:solidFill>
                <a:latin typeface="Calibri"/>
              </a:rPr>
              <a:t>        14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B4FF"/>
                </a:solidFill>
                <a:latin typeface="Calibri"/>
              </a:rPr>
              <a:t>06 · WHAT WE NEED FROM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To close Phase 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AA5B8"/>
                </a:solidFill>
                <a:latin typeface="Calibri"/>
              </a:rPr>
              <a:t>Five questions that unlock the whole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67EEA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22576"/>
            <a:ext cx="100885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What does your day look like, and how do you manage your agenda today?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99232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67EEA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035808"/>
            <a:ext cx="100885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How are your ~1,300 agents organized? (by leader, cohort, product…)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12464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67EEA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749040"/>
            <a:ext cx="100885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Which WhatsApp number do agents write to today?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25696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67EEA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462272"/>
            <a:ext cx="100885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What data does WFG give you, and how do you access it?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38928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67EEA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175504"/>
            <a:ext cx="100885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How do you onboard a new agent, and what data do you have on each?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Asistente · Proposal 2026</a:t>
            </a:r>
            <a:r>
              <a:rPr sz="900" b="0">
                <a:solidFill>
                  <a:srgbClr val="6B7280"/>
                </a:solidFill>
                <a:latin typeface="Calibri"/>
              </a:rPr>
              <a:t>        15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This isn't a CRM or a course platform.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2000" b="0">
                <a:solidFill>
                  <a:srgbClr val="9AA5B8"/>
                </a:solidFill>
                <a:latin typeface="Calibri"/>
              </a:rPr>
              <a:t>It's the operating system a sales leader needs to stop drowning — and to scale a team without losing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4805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AB4FF"/>
                </a:solidFill>
                <a:latin typeface="Calibri"/>
              </a:rPr>
              <a:t>We start with what hurts most and delivers value fast. The rest is an expansion, with a clear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Asistente · Proposal 2026</a:t>
            </a:r>
            <a:r>
              <a:rPr sz="900" b="0">
                <a:solidFill>
                  <a:srgbClr val="6B7280"/>
                </a:solidFill>
                <a:latin typeface="Calibri"/>
              </a:rPr>
              <a:t>        16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gradFill>
            <a:gsLst>
              <a:gs pos="0">
                <a:srgbClr val="667EEA"/>
              </a:gs>
              <a:gs pos="100000">
                <a:srgbClr val="764BA2"/>
              </a:gs>
            </a:gsLst>
            <a:lin ang="1800000" scaled="1"/>
          </a:gradFill>
          <a:xfrm rot="720000">
            <a:off x="7985455" y="3931920"/>
            <a:ext cx="5486400" cy="2926080"/>
          </a:xfrm>
          <a:prstGeom prst="roundRect">
            <a:avLst>
              <a:gd name="adj" fmla="val 6000"/>
            </a:avLst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AA5B8"/>
                </a:solidFill>
                <a:latin typeface="Calibri"/>
              </a:rPr>
              <a:t>Questions, comments, next steps.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114800"/>
            <a:ext cx="2011680" cy="4572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9144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Contact   </a:t>
            </a:r>
            <a:r>
              <a:rPr sz="1500" b="1">
                <a:solidFill>
                  <a:srgbClr val="FFFFFF"/>
                </a:solidFill>
                <a:latin typeface="Calibri"/>
              </a:rPr>
              <a:t>Saady Pacheco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8AB4FF"/>
                </a:solidFill>
                <a:latin typeface="Calibri"/>
              </a:rPr>
              <a:t>saadypacheco@gmail.com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9AA5B8"/>
                </a:solidFill>
                <a:latin typeface="Calibri"/>
              </a:rPr>
              <a:t>Clickable prototype: login.html · dashboard-v5-mi-dia.html · agente.html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Asistente · Proposal 2026</a:t>
            </a:r>
            <a:r>
              <a:rPr sz="900" b="0">
                <a:solidFill>
                  <a:srgbClr val="6B7280"/>
                </a:solidFill>
                <a:latin typeface="Calibri"/>
              </a:rPr>
              <a:t>        17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